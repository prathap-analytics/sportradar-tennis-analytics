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ln w="1587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28600"/>
            <a:ext cx="914" cy="91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nnis ball"/>
          <p:cNvSpPr/>
          <p:nvPr/>
        </p:nvSpPr>
        <p:spPr>
          <a:xfrm>
            <a:off x="6309360" y="822960"/>
            <a:ext cx="2560320" cy="2560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ll seam 1"/>
          <p:cNvSpPr/>
          <p:nvPr/>
        </p:nvSpPr>
        <p:spPr>
          <a:xfrm>
            <a:off x="5394960" y="914400"/>
            <a:ext cx="2377440" cy="2377440"/>
          </a:xfrm>
          <a:prstGeom prst="arc">
            <a:avLst>
              <a:gd name="adj1" fmla="val 18000000"/>
              <a:gd name="adj2" fmla="val 3600000"/>
            </a:avLst>
          </a:prstGeom>
          <a:noFill/>
          <a:ln w="50800">
            <a:solidFill>
              <a:schemeClr val="bg1"/>
            </a:solidFill>
            <a:prstDash val="solid"/>
          </a:ln>
        </p:spPr>
      </p:sp>
      <p:sp>
        <p:nvSpPr>
          <p:cNvPr id="4" name="Ball seam 2"/>
          <p:cNvSpPr/>
          <p:nvPr/>
        </p:nvSpPr>
        <p:spPr>
          <a:xfrm>
            <a:off x="7406640" y="914400"/>
            <a:ext cx="2377440" cy="2377440"/>
          </a:xfrm>
          <a:prstGeom prst="arc">
            <a:avLst>
              <a:gd name="adj1" fmla="val 7200000"/>
              <a:gd name="adj2" fmla="val 14400000"/>
            </a:avLst>
          </a:prstGeom>
          <a:noFill/>
          <a:ln w="50800">
            <a:solidFill>
              <a:schemeClr val="bg1"/>
            </a:solidFill>
            <a:prstDash val="solid"/>
          </a:ln>
        </p:spPr>
      </p:sp>
      <p:sp>
        <p:nvSpPr>
          <p:cNvPr id="5" name="Baseline"/>
          <p:cNvSpPr/>
          <p:nvPr/>
        </p:nvSpPr>
        <p:spPr>
          <a:xfrm>
            <a:off x="0" y="3794760"/>
            <a:ext cx="9144000" cy="45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SQL INSIGHTS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Analytics: Unlocking Tennis Data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Business questions and insights from the SportRadar API — competitions, venues and doubles rankings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Python  •  SQL  •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Three datasets, twenty business questions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Card Competitions"/>
          <p:cNvSpPr/>
          <p:nvPr/>
        </p:nvSpPr>
        <p:spPr>
          <a:xfrm>
            <a:off x="5486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Q1–Q7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Competitions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Categories, types, genders and parent–child hierarchies</a:t>
            </a:r>
            <a:endParaRPr lang="en-US" sz="1200" dirty="0"/>
          </a:p>
        </p:txBody>
      </p:sp>
      <p:sp>
        <p:nvSpPr>
          <p:cNvPr id="8" name="Card Venues &amp; Complexes"/>
          <p:cNvSpPr/>
          <p:nvPr/>
        </p:nvSpPr>
        <p:spPr>
          <a:xfrm>
            <a:off x="32918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Q8–Q14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Venues &amp; Complexes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Courts, cities, countries and timezones</a:t>
            </a:r>
            <a:endParaRPr lang="en-US" sz="1200" dirty="0"/>
          </a:p>
        </p:txBody>
      </p:sp>
      <p:sp>
        <p:nvSpPr>
          <p:cNvPr id="12" name="Card Doubles Rankings"/>
          <p:cNvSpPr/>
          <p:nvPr/>
        </p:nvSpPr>
        <p:spPr>
          <a:xfrm>
            <a:off x="60350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Q15–Q20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Doubles Rankings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Competitor ranks, points, movement and countries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does our competition catalogue look like across categories?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ITF Men + ITF Women share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2,000 competitions mapped across 10 category names, dominated by lower-tier developmental tours.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ITF Men (59.6%) and ITF Women (24.2%) make up the vast majority; ATP and WTA together are under 4%.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Singles (49.9%) and doubles (50.1%) are evenly split, while men’s events lead overall (72.2%).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How many competitions does each category hold?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ITF Men + Women of 6,689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ITF Men (2,198) and ITF Women (2,032) dominate tournament volume, followed by Challenger at 15.9% (1,065).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Elite main-tour categories (ATP and WTA) total just 7.2% (484 competitions).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Team and exhibition events such as Davis Cup, Billie Jean King Cup and Hopman Cup are single standalone fixtures.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competitions are doubles events?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doubles competitions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record returned strictly belongs to the doubles event type.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Men’s events make up 55.95% (1,119) of doubles competitions.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Women’s events account for the remaining 44.05% (881).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does a single category look like? (ITF Men)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ITF Men competitions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2,000 competitions filtered under the ITF Men category were retrieved.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Event formats are almost perfectly balanced: 1,000 doubles and 999 singles.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Events are spread across international circuit locations.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competitions have sub-events (parent–child hierarchy)?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parent–child link found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single hierarchy exists: ITF Romania F9, Men Singles is the parent of ITF Romania F9, Men Doubles.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doubles event is configured as a secondary tournament under the primary singles competition.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How are singles and doubles distributed within each category?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mixed events (&lt;0.3%)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ITF Men/Women, Challenger, WTA and ATP keep a near 1:1 balance between singles and doubles.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UTR competitions run exclusively as singles formats.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Mixed doubles are exceptionally rare and appear almost only in exhibition, ATP and team events (Hopman Cup, United Cup).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COMPETITIONS  ·  Q7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competitions stand alone as top-level events?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top-level (ROOT) events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These events operate independently, without a parent tournament.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Universal Tennis Rating (UTR) events dominate at 92.5% (558 competitions).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other 7.5% are international team cups (Davis Cup, United Cup, Hopman Cup) and select exhibition or tour fixtures.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How are venues mapped to their tennis complexes?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unique complexes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2,000 venue records are mapped across 342 unique complexes; generic labels like “Court 1” and “Court 2” are most frequent.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National Tennis Center (48 venues) and Buenos Aires Lawn Tennis Club (28) hold the most court mappings.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complexes have the most courts?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4,124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venues across 778 complexes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Leaders: Buenos Aires Lawn Tennis Club (29), Melbourne Park (28) and Queensland Tennis Centre (25).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active complexes have 3–6 courts (39.3% of complexes).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161 complexes (20.7%) have no mapped courts recorded — a data gap worth closing.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venue infrastructure exists in a specific country? (Chile)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venues in Chile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Santiago hosts 30 of Chile’s 65 venues (46.2%) across 7 cities; one complex holds nearly 30% of mapped courts.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Names blend Spanish and English (“Cancha Central” vs “Centre Court”); all venues sit in the America/Santiago timezone.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timezones do our venues operate in?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unique timezones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2,000 venues span 77 global timezones across major tennis regions.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America/New_York (176) and Asia/Shanghai (167) lead, followed by Europe/Paris (158) and Europe/Rome (112).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complexes are true multi-court facilities?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multi-venue complexes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Together they hold 4,096 courts, averaging about 7 venues per complex (range 2–29).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Buenos Aires Lawn Tennis Club (29), Melbourne Park (28) and Queensland Tennis Centre (25) lead on capacity.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countries host the most venues?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 venues in top 3 nations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2,000 venues across 75 countries, led by the USA (187, 9.4%), France (109) and Italy (104).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Saudi Arabia (1), Israel (2) and the Philippines (3) sit at the low end — potential growth markets.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VENUES &amp; COMPLEXES  ·  Q14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venues belong to one complex? (Nacional)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court recorded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one venue is mapped to the Nacional complex: Cancha Central (sr:venue:70045).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This shows the complex has a single recorded court facility in the dataset.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Who are the competitors, and what are their ranks and points?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11,350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top points (Katerina Siniakova)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1,000 competitors show a clear inverse link between rank and points (r = −0.63); top-ranked players hold over 10,000 points.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Katerina Siniakova leads with 11,350 points at Rank 1; the average across the pool is 725.6 points (ranks 1–500).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Who sits at the very top of the standings?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led by three Rank 1 athletes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Harri Heliovaara, Katerina Siniakova and Henry Patten are all listed at world Rank 1 (separate doubles rankings).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Taylor Townsend is Rank 2 and Neal Skupski Rank 3; ranks 4 and 5 have no entries in this subset.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competitors held a stable rank this week?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competitors with zero movement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These players maintained their rank with no net movement.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group includes top doubles specialists Harri Heliovaara, Henry Patten and Neal Skupski — high stability at the peak.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How strong is a specific country’s ranking presence? (Croatia)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11,917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total Croatian ranking points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Croatian competitors have accumulated 11,917 combined ranking points.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This reflects a strong collective performance within international standings.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Which countries have the most competitors?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20.6%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 players from top 3 countries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USA leads with 106 competitors (10.6%), followed by Great Britain (52) and France (48) across 73 nations.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top three account for 206 of the 1,000 players — notable geographic concentration.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RANKINGS  ·  Q20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Who has the highest points in the current week?</a:t>
            </a:r>
            <a:endParaRPr lang="en-US" sz="2400" dirty="0"/>
          </a:p>
        </p:txBody>
      </p:sp>
      <p:sp>
        <p:nvSpPr>
          <p:cNvPr id="4" name="Stat card"/>
          <p:cNvSpPr/>
          <p:nvPr/>
        </p:nvSpPr>
        <p:spPr>
          <a:xfrm>
            <a:off x="5486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Ball icon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11,350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points — Rank 1</a:t>
            </a:r>
            <a:endParaRPr lang="en-US" sz="1300" dirty="0"/>
          </a:p>
        </p:txBody>
      </p:sp>
      <p:sp>
        <p:nvSpPr>
          <p:cNvPr id="8" name="Insight card"/>
          <p:cNvSpPr/>
          <p:nvPr/>
        </p:nvSpPr>
        <p:spPr>
          <a:xfrm>
            <a:off x="3429000" y="1783080"/>
            <a:ext cx="5166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Katerina Siniakova of Czechia holds the highest total, in women’s doubles.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She is firmly at Rank 1, with a substantial lead at the top of the global standings.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GAME, SET, INSIGHT</a:t>
            </a:r>
            <a:endParaRPr lang="en-US" sz="1100" dirty="0"/>
          </a:p>
        </p:txBody>
      </p:sp>
      <p:sp>
        <p:nvSpPr>
          <p:cNvPr id="4" name="Takeaway 1"/>
          <p:cNvSpPr/>
          <p:nvPr/>
        </p:nvSpPr>
        <p:spPr>
          <a:xfrm>
            <a:off x="548640" y="1783080"/>
            <a:ext cx="39319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92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Developmental tours dominate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ITF Men and Women are the bulk of competition volume; ATP/WTA are a small elite slice.</a:t>
            </a:r>
            <a:endParaRPr lang="en-US" sz="1200" dirty="0"/>
          </a:p>
        </p:txBody>
      </p:sp>
      <p:sp>
        <p:nvSpPr>
          <p:cNvPr id="7" name="Takeaway 2"/>
          <p:cNvSpPr/>
          <p:nvPr/>
        </p:nvSpPr>
        <p:spPr>
          <a:xfrm>
            <a:off x="4663440" y="1783080"/>
            <a:ext cx="39319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892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Infrastructure is concentrated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top 3 countries host 20% of venues, and 161 complexes have no mapped courts.</a:t>
            </a:r>
            <a:endParaRPr lang="en-US" sz="1200" dirty="0"/>
          </a:p>
        </p:txBody>
      </p:sp>
      <p:sp>
        <p:nvSpPr>
          <p:cNvPr id="10" name="Takeaway 3"/>
          <p:cNvSpPr/>
          <p:nvPr/>
        </p:nvSpPr>
        <p:spPr>
          <a:xfrm>
            <a:off x="548640" y="3154680"/>
            <a:ext cx="39319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Doubles ranks are tightly held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Rank 1 is shared and 117 players held steady, led by Siniakova at 11,350 points.</a:t>
            </a:r>
            <a:endParaRPr lang="en-US" sz="1200" dirty="0"/>
          </a:p>
        </p:txBody>
      </p:sp>
      <p:sp>
        <p:nvSpPr>
          <p:cNvPr id="13" name="Takeaway 4"/>
          <p:cNvSpPr/>
          <p:nvPr/>
        </p:nvSpPr>
        <p:spPr>
          <a:xfrm>
            <a:off x="4663440" y="3154680"/>
            <a:ext cx="39319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USA leads representation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106 of 1,000 competitors come from the USA, ahead of Great Britain and France.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720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nis Court">
  <a:themeElements>
    <a:clrScheme name="Tennis Court">
      <a:dk1>
        <a:srgbClr val="0B3D2E"/>
      </a:dk1>
      <a:lt1>
        <a:srgbClr val="FFFFFF"/>
      </a:lt1>
      <a:dk2>
        <a:srgbClr val="14573F"/>
      </a:dk2>
      <a:lt2>
        <a:srgbClr val="E8F5E9"/>
      </a:lt2>
      <a:accent1>
        <a:srgbClr val="D4E157"/>
      </a:accent1>
      <a:accent2>
        <a:srgbClr val="C8553D"/>
      </a:accent2>
      <a:accent3>
        <a:srgbClr val="2E8B57"/>
      </a:accent3>
      <a:accent4>
        <a:srgbClr val="F5F5DC"/>
      </a:accent4>
      <a:accent5>
        <a:srgbClr val="8BC34A"/>
      </a:accent5>
      <a:accent6>
        <a:srgbClr val="1B6B4A"/>
      </a:accent6>
      <a:hlink>
        <a:srgbClr val="D4E157"/>
      </a:hlink>
      <a:folHlink>
        <a:srgbClr val="C8553D"/>
      </a:folHlink>
    </a:clrScheme>
    <a:fontScheme name="Tennis Cour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Analytics: Unlocking Tennis Data with SportRadar API</dc:title>
  <dc:subject>PptxGenJS Presentation</dc:subject>
  <dc:creator>PptxGenJS</dc:creator>
  <cp:lastModifiedBy>PptxGenJS</cp:lastModifiedBy>
  <cp:revision>1</cp:revision>
  <dcterms:created xsi:type="dcterms:W3CDTF">2026-10-08T13:03:47Z</dcterms:created>
  <dcterms:modified xsi:type="dcterms:W3CDTF">2026-10-08T13:03:47Z</dcterms:modified>
</cp:coreProperties>
</file>